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4" r:id="rId9"/>
    <p:sldId id="262" r:id="rId10"/>
    <p:sldId id="263" r:id="rId11"/>
    <p:sldId id="265" r:id="rId12"/>
    <p:sldId id="266" r:id="rId13"/>
    <p:sldId id="267" r:id="rId14"/>
    <p:sldId id="268" r:id="rId15"/>
    <p:sldId id="275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embeddedFontLst>
    <p:embeddedFont>
      <p:font typeface="Georgia" panose="02040502050405020303" pitchFamily="18" charset="0"/>
      <p:regular r:id="rId23"/>
      <p:bold r:id="rId24"/>
      <p:italic r:id="rId25"/>
      <p:boldItalic r:id="rId26"/>
    </p:embeddedFont>
    <p:embeddedFont>
      <p:font typeface="Play" panose="020B060402020202020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gP3VsybasQWF5Fe4nUOU9S/CRT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notesMaster" Target="notesMasters/notesMaster1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font" Target="fonts/font5.fntdata"/><Relationship Id="rId28" Type="http://schemas.openxmlformats.org/officeDocument/2006/relationships/font" Target="fonts/font6.fntdata"/><Relationship Id="rId33" Type="http://customschemas.google.com/relationships/presentationmetadata" Target="metadata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6" name="Google Shape;2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67b653116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g3e67b65311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67b653116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g3e67b653116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67b653116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g3e67b653116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67b653116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3e67b65311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67b653116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3e67b65311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>
          <a:extLst>
            <a:ext uri="{FF2B5EF4-FFF2-40B4-BE49-F238E27FC236}">
              <a16:creationId xmlns:a16="http://schemas.microsoft.com/office/drawing/2014/main" id="{B75FCAD8-FC6D-8C18-29DE-79B56D8CE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:notes">
            <a:extLst>
              <a:ext uri="{FF2B5EF4-FFF2-40B4-BE49-F238E27FC236}">
                <a16:creationId xmlns:a16="http://schemas.microsoft.com/office/drawing/2014/main" id="{A0A57CCA-5C5A-C144-7800-6120AA82D0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9:notes">
            <a:extLst>
              <a:ext uri="{FF2B5EF4-FFF2-40B4-BE49-F238E27FC236}">
                <a16:creationId xmlns:a16="http://schemas.microsoft.com/office/drawing/2014/main" id="{A7F87564-A816-2C3F-7C61-1DFF146FC0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3481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e67b653116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3e67b65311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>
            <a:spLocks noGrp="1"/>
          </p:cNvSpPr>
          <p:nvPr>
            <p:ph type="ctrTitle"/>
          </p:nvPr>
        </p:nvSpPr>
        <p:spPr>
          <a:xfrm>
            <a:off x="571501" y="822960"/>
            <a:ext cx="6057899" cy="5015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atang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subTitle" idx="1"/>
          </p:nvPr>
        </p:nvSpPr>
        <p:spPr>
          <a:xfrm>
            <a:off x="8109113" y="3003642"/>
            <a:ext cx="3522199" cy="29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 cap="none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dt" idx="10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ftr" idx="11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" name="Google Shape;25;p18"/>
          <p:cNvCxnSpPr/>
          <p:nvPr/>
        </p:nvCxnSpPr>
        <p:spPr>
          <a:xfrm rot="10800000">
            <a:off x="571501" y="571500"/>
            <a:ext cx="110598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" name="Google Shape;26;p18"/>
          <p:cNvCxnSpPr/>
          <p:nvPr/>
        </p:nvCxnSpPr>
        <p:spPr>
          <a:xfrm>
            <a:off x="7742482" y="571500"/>
            <a:ext cx="0" cy="5715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18"/>
          <p:cNvCxnSpPr/>
          <p:nvPr/>
        </p:nvCxnSpPr>
        <p:spPr>
          <a:xfrm rot="10800000">
            <a:off x="577485" y="6283518"/>
            <a:ext cx="110598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571499" y="2075688"/>
            <a:ext cx="11059811" cy="391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2pPr>
            <a:lvl3pPr marL="1371600" lvl="2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marL="1828800" lvl="3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4pPr>
            <a:lvl5pPr marL="2286000" lvl="4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571500" y="914255"/>
            <a:ext cx="6867115" cy="5009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atang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9239817" y="914399"/>
            <a:ext cx="2370268" cy="2670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 cap="none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0" name="Google Shape;40;p20"/>
          <p:cNvCxnSpPr/>
          <p:nvPr/>
        </p:nvCxnSpPr>
        <p:spPr>
          <a:xfrm>
            <a:off x="8872625" y="571500"/>
            <a:ext cx="0" cy="5715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" name="Google Shape;41;p20"/>
          <p:cNvCxnSpPr/>
          <p:nvPr/>
        </p:nvCxnSpPr>
        <p:spPr>
          <a:xfrm rot="10800000">
            <a:off x="566094" y="571500"/>
            <a:ext cx="110598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" name="Google Shape;42;p20"/>
          <p:cNvCxnSpPr/>
          <p:nvPr/>
        </p:nvCxnSpPr>
        <p:spPr>
          <a:xfrm rot="10800000">
            <a:off x="577485" y="6283518"/>
            <a:ext cx="110598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1"/>
          <p:cNvSpPr txBox="1">
            <a:spLocks noGrp="1"/>
          </p:cNvSpPr>
          <p:nvPr>
            <p:ph type="title"/>
          </p:nvPr>
        </p:nvSpPr>
        <p:spPr>
          <a:xfrm>
            <a:off x="571500" y="709684"/>
            <a:ext cx="11049000" cy="105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1"/>
          </p:nvPr>
        </p:nvSpPr>
        <p:spPr>
          <a:xfrm>
            <a:off x="579447" y="2074990"/>
            <a:ext cx="5181600" cy="410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2pPr>
            <a:lvl3pPr marL="1371600" lvl="2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marL="1828800" lvl="3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4pPr>
            <a:lvl5pPr marL="2286000" lvl="4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2"/>
          </p:nvPr>
        </p:nvSpPr>
        <p:spPr>
          <a:xfrm>
            <a:off x="6447082" y="2074990"/>
            <a:ext cx="5181600" cy="410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2pPr>
            <a:lvl3pPr marL="1371600" lvl="2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marL="1828800" lvl="3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4pPr>
            <a:lvl5pPr marL="2286000" lvl="4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0" name="Google Shape;50;p21"/>
          <p:cNvCxnSpPr/>
          <p:nvPr/>
        </p:nvCxnSpPr>
        <p:spPr>
          <a:xfrm rot="10800000">
            <a:off x="6101405" y="1883336"/>
            <a:ext cx="0" cy="439965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583469" y="699118"/>
            <a:ext cx="11025062" cy="1063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583468" y="2022883"/>
            <a:ext cx="5230469" cy="564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 cap="none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2"/>
          </p:nvPr>
        </p:nvSpPr>
        <p:spPr>
          <a:xfrm>
            <a:off x="583469" y="2866031"/>
            <a:ext cx="5157787" cy="3227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2pPr>
            <a:lvl3pPr marL="1371600" lvl="2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marL="1828800" lvl="3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4pPr>
            <a:lvl5pPr marL="2286000" lvl="4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body" idx="3"/>
          </p:nvPr>
        </p:nvSpPr>
        <p:spPr>
          <a:xfrm>
            <a:off x="6441470" y="2022883"/>
            <a:ext cx="5183188" cy="56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 cap="none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4"/>
          </p:nvPr>
        </p:nvSpPr>
        <p:spPr>
          <a:xfrm>
            <a:off x="6441470" y="2866031"/>
            <a:ext cx="5183188" cy="3227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2pPr>
            <a:lvl3pPr marL="1371600" lvl="2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marL="1828800" lvl="3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4pPr>
            <a:lvl5pPr marL="2286000" lvl="4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0" name="Google Shape;60;p22"/>
          <p:cNvCxnSpPr/>
          <p:nvPr/>
        </p:nvCxnSpPr>
        <p:spPr>
          <a:xfrm rot="10800000">
            <a:off x="6101405" y="1883336"/>
            <a:ext cx="0" cy="43996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1" name="Google Shape;61;p22"/>
          <p:cNvCxnSpPr/>
          <p:nvPr/>
        </p:nvCxnSpPr>
        <p:spPr>
          <a:xfrm rot="10800000">
            <a:off x="577485" y="2738598"/>
            <a:ext cx="110598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3"/>
          <p:cNvSpPr txBox="1">
            <a:spLocks noGrp="1"/>
          </p:cNvSpPr>
          <p:nvPr>
            <p:ph type="title"/>
          </p:nvPr>
        </p:nvSpPr>
        <p:spPr>
          <a:xfrm>
            <a:off x="571500" y="717452"/>
            <a:ext cx="11049000" cy="1161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dt" idx="10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ftr" idx="11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sldNum" idx="12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7" name="Google Shape;67;p23"/>
          <p:cNvCxnSpPr/>
          <p:nvPr/>
        </p:nvCxnSpPr>
        <p:spPr>
          <a:xfrm rot="10800000">
            <a:off x="577485" y="571500"/>
            <a:ext cx="110598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8" name="Google Shape;68;p23"/>
          <p:cNvCxnSpPr/>
          <p:nvPr/>
        </p:nvCxnSpPr>
        <p:spPr>
          <a:xfrm rot="10800000">
            <a:off x="577485" y="6283518"/>
            <a:ext cx="110598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4"/>
          <p:cNvSpPr txBox="1">
            <a:spLocks noGrp="1"/>
          </p:cNvSpPr>
          <p:nvPr>
            <p:ph type="dt" idx="10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ftr" idx="11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sldNum" idx="12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>
            <a:spLocks noGrp="1"/>
          </p:cNvSpPr>
          <p:nvPr>
            <p:ph type="title"/>
          </p:nvPr>
        </p:nvSpPr>
        <p:spPr>
          <a:xfrm>
            <a:off x="572201" y="810344"/>
            <a:ext cx="3478084" cy="14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tang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>
            <a:off x="4919809" y="931232"/>
            <a:ext cx="6700679" cy="5079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116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60"/>
              <a:buChar char="•"/>
              <a:defRPr sz="3200"/>
            </a:lvl1pPr>
            <a:lvl2pPr marL="914400" lvl="1" indent="-3708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40"/>
              <a:buChar char="–"/>
              <a:defRPr sz="2800"/>
            </a:lvl2pPr>
            <a:lvl3pPr marL="1371600" lvl="2" indent="-35052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2400"/>
            </a:lvl3pPr>
            <a:lvl4pPr marL="1828800" lvl="3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000"/>
            </a:lvl4pPr>
            <a:lvl5pPr marL="2286000" lvl="4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2"/>
          </p:nvPr>
        </p:nvSpPr>
        <p:spPr>
          <a:xfrm>
            <a:off x="571500" y="2578608"/>
            <a:ext cx="3478783" cy="341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0" name="Google Shape;80;p25"/>
          <p:cNvCxnSpPr/>
          <p:nvPr/>
        </p:nvCxnSpPr>
        <p:spPr>
          <a:xfrm rot="10800000">
            <a:off x="571500" y="571500"/>
            <a:ext cx="110598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" name="Google Shape;81;p25"/>
          <p:cNvCxnSpPr/>
          <p:nvPr/>
        </p:nvCxnSpPr>
        <p:spPr>
          <a:xfrm rot="10800000">
            <a:off x="4419601" y="571500"/>
            <a:ext cx="0" cy="5715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" name="Google Shape;82;p25"/>
          <p:cNvCxnSpPr/>
          <p:nvPr/>
        </p:nvCxnSpPr>
        <p:spPr>
          <a:xfrm rot="10800000">
            <a:off x="571501" y="2406845"/>
            <a:ext cx="3848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3" name="Google Shape;83;p25"/>
          <p:cNvCxnSpPr/>
          <p:nvPr/>
        </p:nvCxnSpPr>
        <p:spPr>
          <a:xfrm rot="10800000">
            <a:off x="577485" y="6283518"/>
            <a:ext cx="110598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6"/>
          <p:cNvSpPr txBox="1">
            <a:spLocks noGrp="1"/>
          </p:cNvSpPr>
          <p:nvPr>
            <p:ph type="title"/>
          </p:nvPr>
        </p:nvSpPr>
        <p:spPr>
          <a:xfrm>
            <a:off x="571499" y="802204"/>
            <a:ext cx="3478787" cy="14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tang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6"/>
          <p:cNvSpPr>
            <a:spLocks noGrp="1"/>
          </p:cNvSpPr>
          <p:nvPr>
            <p:ph type="pic" idx="2"/>
          </p:nvPr>
        </p:nvSpPr>
        <p:spPr>
          <a:xfrm>
            <a:off x="4723467" y="847384"/>
            <a:ext cx="6907844" cy="5216813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26"/>
          <p:cNvSpPr txBox="1">
            <a:spLocks noGrp="1"/>
          </p:cNvSpPr>
          <p:nvPr>
            <p:ph type="body" idx="1"/>
          </p:nvPr>
        </p:nvSpPr>
        <p:spPr>
          <a:xfrm>
            <a:off x="571498" y="2574906"/>
            <a:ext cx="3478787" cy="3435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8" name="Google Shape;88;p26"/>
          <p:cNvSpPr txBox="1">
            <a:spLocks noGrp="1"/>
          </p:cNvSpPr>
          <p:nvPr>
            <p:ph type="dt" idx="10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6"/>
          <p:cNvSpPr txBox="1">
            <a:spLocks noGrp="1"/>
          </p:cNvSpPr>
          <p:nvPr>
            <p:ph type="ftr" idx="11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6"/>
          <p:cNvSpPr txBox="1">
            <a:spLocks noGrp="1"/>
          </p:cNvSpPr>
          <p:nvPr>
            <p:ph type="sldNum" idx="12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1" name="Google Shape;91;p26"/>
          <p:cNvCxnSpPr/>
          <p:nvPr/>
        </p:nvCxnSpPr>
        <p:spPr>
          <a:xfrm rot="10800000">
            <a:off x="571500" y="571500"/>
            <a:ext cx="110598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2" name="Google Shape;92;p26"/>
          <p:cNvCxnSpPr/>
          <p:nvPr/>
        </p:nvCxnSpPr>
        <p:spPr>
          <a:xfrm rot="10800000">
            <a:off x="4419601" y="571500"/>
            <a:ext cx="0" cy="5715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3" name="Google Shape;93;p26"/>
          <p:cNvCxnSpPr/>
          <p:nvPr/>
        </p:nvCxnSpPr>
        <p:spPr>
          <a:xfrm rot="10800000">
            <a:off x="571501" y="2406845"/>
            <a:ext cx="3848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4" name="Google Shape;94;p26"/>
          <p:cNvCxnSpPr/>
          <p:nvPr/>
        </p:nvCxnSpPr>
        <p:spPr>
          <a:xfrm rot="10800000">
            <a:off x="577485" y="6283518"/>
            <a:ext cx="110598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7"/>
          <p:cNvSpPr txBox="1"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7"/>
          <p:cNvSpPr txBox="1">
            <a:spLocks noGrp="1"/>
          </p:cNvSpPr>
          <p:nvPr>
            <p:ph type="body" idx="1"/>
          </p:nvPr>
        </p:nvSpPr>
        <p:spPr>
          <a:xfrm rot="5400000">
            <a:off x="4166018" y="-1558156"/>
            <a:ext cx="3870773" cy="11059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2pPr>
            <a:lvl3pPr marL="1371600" lvl="2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marL="1828800" lvl="3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4pPr>
            <a:lvl5pPr marL="2286000" lvl="4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27"/>
          <p:cNvSpPr txBox="1">
            <a:spLocks noGrp="1"/>
          </p:cNvSpPr>
          <p:nvPr>
            <p:ph type="dt" idx="10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7"/>
          <p:cNvSpPr txBox="1">
            <a:spLocks noGrp="1"/>
          </p:cNvSpPr>
          <p:nvPr>
            <p:ph type="ftr" idx="11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7"/>
          <p:cNvSpPr txBox="1">
            <a:spLocks noGrp="1"/>
          </p:cNvSpPr>
          <p:nvPr>
            <p:ph type="sldNum" idx="12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1" name="Google Shape;101;p27"/>
          <p:cNvCxnSpPr/>
          <p:nvPr/>
        </p:nvCxnSpPr>
        <p:spPr>
          <a:xfrm rot="10800000">
            <a:off x="571500" y="1780979"/>
            <a:ext cx="110598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8"/>
          <p:cNvSpPr txBox="1">
            <a:spLocks noGrp="1"/>
          </p:cNvSpPr>
          <p:nvPr>
            <p:ph type="title"/>
          </p:nvPr>
        </p:nvSpPr>
        <p:spPr>
          <a:xfrm rot="5400000">
            <a:off x="7778025" y="2197179"/>
            <a:ext cx="5283785" cy="248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8"/>
          <p:cNvSpPr txBox="1">
            <a:spLocks noGrp="1"/>
          </p:cNvSpPr>
          <p:nvPr>
            <p:ph type="body" idx="1"/>
          </p:nvPr>
        </p:nvSpPr>
        <p:spPr>
          <a:xfrm rot="5400000">
            <a:off x="1974738" y="-611393"/>
            <a:ext cx="5283785" cy="8101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2pPr>
            <a:lvl3pPr marL="1371600" lvl="2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marL="1828800" lvl="3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4pPr>
            <a:lvl5pPr marL="2286000" lvl="4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28"/>
          <p:cNvSpPr txBox="1">
            <a:spLocks noGrp="1"/>
          </p:cNvSpPr>
          <p:nvPr>
            <p:ph type="dt" idx="10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8"/>
          <p:cNvSpPr txBox="1">
            <a:spLocks noGrp="1"/>
          </p:cNvSpPr>
          <p:nvPr>
            <p:ph type="ftr" idx="11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8"/>
          <p:cNvSpPr txBox="1">
            <a:spLocks noGrp="1"/>
          </p:cNvSpPr>
          <p:nvPr>
            <p:ph type="sldNum" idx="12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8" name="Google Shape;108;p28"/>
          <p:cNvCxnSpPr/>
          <p:nvPr/>
        </p:nvCxnSpPr>
        <p:spPr>
          <a:xfrm rot="10800000">
            <a:off x="566094" y="577110"/>
            <a:ext cx="110598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9" name="Google Shape;109;p28"/>
          <p:cNvCxnSpPr/>
          <p:nvPr/>
        </p:nvCxnSpPr>
        <p:spPr>
          <a:xfrm rot="10800000">
            <a:off x="8875226" y="571500"/>
            <a:ext cx="0" cy="571149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0" name="Google Shape;110;p28"/>
          <p:cNvCxnSpPr/>
          <p:nvPr/>
        </p:nvCxnSpPr>
        <p:spPr>
          <a:xfrm rot="10800000">
            <a:off x="577485" y="6283518"/>
            <a:ext cx="110598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9"/>
          <p:cNvSpPr txBox="1">
            <a:spLocks noGrp="1"/>
          </p:cNvSpPr>
          <p:nvPr>
            <p:ph type="body" idx="1"/>
          </p:nvPr>
        </p:nvSpPr>
        <p:spPr>
          <a:xfrm>
            <a:off x="571499" y="1137256"/>
            <a:ext cx="11209376" cy="490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30988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80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29972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29972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9"/>
          <p:cNvSpPr txBox="1">
            <a:spLocks noGrp="1"/>
          </p:cNvSpPr>
          <p:nvPr>
            <p:ph type="title"/>
          </p:nvPr>
        </p:nvSpPr>
        <p:spPr>
          <a:xfrm>
            <a:off x="571499" y="348662"/>
            <a:ext cx="11209376" cy="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3200"/>
              <a:buFont typeface="Georgia"/>
              <a:buNone/>
              <a:defRPr sz="3200" b="0">
                <a:solidFill>
                  <a:srgbClr val="A4123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14" name="Google Shape;114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3489" y="6369932"/>
            <a:ext cx="12218977" cy="521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26134" y="6490361"/>
            <a:ext cx="1781941" cy="31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353456"/>
            <a:ext cx="12218977" cy="52100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>
            <a:spLocks noGrp="1"/>
          </p:cNvSpPr>
          <p:nvPr>
            <p:ph type="body" idx="1"/>
          </p:nvPr>
        </p:nvSpPr>
        <p:spPr>
          <a:xfrm>
            <a:off x="571499" y="1137256"/>
            <a:ext cx="11209376" cy="490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7"/>
          <p:cNvSpPr txBox="1">
            <a:spLocks noGrp="1"/>
          </p:cNvSpPr>
          <p:nvPr>
            <p:ph type="title"/>
          </p:nvPr>
        </p:nvSpPr>
        <p:spPr>
          <a:xfrm>
            <a:off x="571499" y="348662"/>
            <a:ext cx="11209376" cy="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3200"/>
              <a:buFont typeface="Georgia"/>
              <a:buNone/>
              <a:defRPr sz="3200" b="0">
                <a:solidFill>
                  <a:srgbClr val="A4123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26" name="Google Shape;12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26134" y="6490361"/>
            <a:ext cx="1781941" cy="31484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>
            <a:spLocks noGrp="1"/>
          </p:cNvSpPr>
          <p:nvPr>
            <p:ph type="sldNum" idx="12"/>
          </p:nvPr>
        </p:nvSpPr>
        <p:spPr>
          <a:xfrm>
            <a:off x="0" y="6525814"/>
            <a:ext cx="5714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401263" y="6525813"/>
            <a:ext cx="15873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2" name="Google Shape;132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3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7" name="Google Shape;157;p3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3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9" name="Google Shape;159;p3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75" name="Google Shape;175;p3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76" name="Google Shape;176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3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83" name="Google Shape;183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4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5" name="Google Shape;195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6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atang"/>
              <a:buNone/>
              <a:defRPr sz="4000" b="0" i="0" u="none" strike="noStrike" cap="non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571499" y="2075688"/>
            <a:ext cx="11059811" cy="381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2004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Avenir"/>
              <a:buChar char="–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0988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2997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venir"/>
              <a:buChar char="–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2997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14"/>
          <p:cNvCxnSpPr/>
          <p:nvPr/>
        </p:nvCxnSpPr>
        <p:spPr>
          <a:xfrm rot="10800000">
            <a:off x="566094" y="6286347"/>
            <a:ext cx="110598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" name="Google Shape;16;p14"/>
          <p:cNvCxnSpPr/>
          <p:nvPr/>
        </p:nvCxnSpPr>
        <p:spPr>
          <a:xfrm rot="10800000">
            <a:off x="577485" y="1883336"/>
            <a:ext cx="110598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" name="Google Shape;17;p14"/>
          <p:cNvCxnSpPr/>
          <p:nvPr/>
        </p:nvCxnSpPr>
        <p:spPr>
          <a:xfrm rot="10800000">
            <a:off x="577485" y="571500"/>
            <a:ext cx="110598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8" name="Google Shape;118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204" name="Google Shape;204;p1" descr="A picture containing drawing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154" y="2576466"/>
            <a:ext cx="3443174" cy="11048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5" name="Google Shape;205;p1"/>
          <p:cNvCxnSpPr/>
          <p:nvPr/>
        </p:nvCxnSpPr>
        <p:spPr>
          <a:xfrm>
            <a:off x="4335124" y="2310508"/>
            <a:ext cx="0" cy="1636813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6" name="Google Shape;206;p1"/>
          <p:cNvSpPr txBox="1"/>
          <p:nvPr/>
        </p:nvSpPr>
        <p:spPr>
          <a:xfrm>
            <a:off x="4444325" y="2006325"/>
            <a:ext cx="76545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lt1"/>
                </a:solidFill>
                <a:latin typeface="Times New Roman" panose="02020603050405020304" pitchFamily="18" charset="0"/>
                <a:ea typeface="Quattrocento Sans"/>
                <a:cs typeface="Times New Roman" panose="02020603050405020304" pitchFamily="18" charset="0"/>
                <a:sym typeface="Quattrocento Sans"/>
              </a:rPr>
              <a:t>PathFinder AI – Simplified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lt1"/>
                </a:solidFill>
                <a:latin typeface="Times New Roman" panose="02020603050405020304" pitchFamily="18" charset="0"/>
                <a:ea typeface="Quattrocento Sans"/>
                <a:cs typeface="Times New Roman" panose="02020603050405020304" pitchFamily="18" charset="0"/>
                <a:sym typeface="Quattrocento Sans"/>
              </a:rPr>
              <a:t> AI‐Powered Academic &amp; Career Assistant</a:t>
            </a:r>
            <a:endParaRPr sz="3600" b="1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</p:txBody>
      </p:sp>
      <p:sp>
        <p:nvSpPr>
          <p:cNvPr id="207" name="Google Shape;207;p1"/>
          <p:cNvSpPr txBox="1"/>
          <p:nvPr/>
        </p:nvSpPr>
        <p:spPr>
          <a:xfrm>
            <a:off x="6382980" y="4987481"/>
            <a:ext cx="5715845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Aditya Kaashyap Emani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AM.EN.U4CSE22007</a:t>
            </a:r>
            <a:endParaRPr sz="2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Nirujogi</a:t>
            </a:r>
            <a:r>
              <a:rPr lang="en-US" sz="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Sai Jayanth        AM.EN.U4CSE22037</a:t>
            </a:r>
            <a:endParaRPr sz="2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Intha Madhav Reddy       AM.EN.U4CSE22069</a:t>
            </a:r>
            <a:endParaRPr sz="2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1"/>
          <p:cNvSpPr txBox="1"/>
          <p:nvPr/>
        </p:nvSpPr>
        <p:spPr>
          <a:xfrm>
            <a:off x="6382980" y="4035786"/>
            <a:ext cx="4465268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 Bri. </a:t>
            </a:r>
            <a:r>
              <a:rPr lang="en-US" sz="1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Krishnaprasad</a:t>
            </a:r>
            <a:r>
              <a:rPr lang="en-US" sz="1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number : A13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"/>
          <p:cNvSpPr txBox="1">
            <a:spLocks noGrp="1"/>
          </p:cNvSpPr>
          <p:nvPr>
            <p:ph type="body" idx="1"/>
          </p:nvPr>
        </p:nvSpPr>
        <p:spPr>
          <a:xfrm>
            <a:off x="571499" y="1137256"/>
            <a:ext cx="11209376" cy="490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r>
              <a:t>Introduction</a:t>
            </a:r>
          </a:p>
          <a:p>
            <a:r>
              <a:t>Problem &amp; Objective</a:t>
            </a:r>
          </a:p>
          <a:p>
            <a:r>
              <a:t>Proposed Solution Overview</a:t>
            </a:r>
          </a:p>
          <a:p>
            <a:r>
              <a:t>System Architecture / Design</a:t>
            </a:r>
          </a:p>
          <a:p>
            <a:r>
              <a:t>System Workflow</a:t>
            </a:r>
          </a:p>
          <a:p>
            <a:r>
              <a:t>Implementation Details</a:t>
            </a:r>
          </a:p>
          <a:p>
            <a:r>
              <a:t>Results &amp; Performance</a:t>
            </a:r>
          </a:p>
          <a:p>
            <a:r>
              <a:t>Evaluation &amp; Analysis</a:t>
            </a:r>
          </a:p>
          <a:p>
            <a:r>
              <a:t>Challenges &amp; Solutions</a:t>
            </a:r>
          </a:p>
          <a:p>
            <a:r>
              <a:t>Conclusion</a:t>
            </a:r>
          </a:p>
          <a:p>
            <a:r>
              <a:t>Future Scope</a:t>
            </a:r>
          </a:p>
          <a:p>
            <a:r>
              <a:t>Publication Status</a:t>
            </a:r>
          </a:p>
        </p:txBody>
      </p:sp>
      <p:sp>
        <p:nvSpPr>
          <p:cNvPr id="214" name="Google Shape;214;p2"/>
          <p:cNvSpPr txBox="1">
            <a:spLocks noGrp="1"/>
          </p:cNvSpPr>
          <p:nvPr>
            <p:ph type="title"/>
          </p:nvPr>
        </p:nvSpPr>
        <p:spPr>
          <a:xfrm>
            <a:off x="571499" y="348662"/>
            <a:ext cx="11209376" cy="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3200"/>
              <a:buFont typeface="Georgia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215" name="Google Shape;215;p2"/>
          <p:cNvSpPr txBox="1">
            <a:spLocks noGrp="1"/>
          </p:cNvSpPr>
          <p:nvPr>
            <p:ph type="sldNum" idx="12"/>
          </p:nvPr>
        </p:nvSpPr>
        <p:spPr>
          <a:xfrm>
            <a:off x="0" y="6525814"/>
            <a:ext cx="5714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16" name="Google Shape;216;p2"/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Project title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"/>
          <p:cNvSpPr txBox="1">
            <a:spLocks noGrp="1"/>
          </p:cNvSpPr>
          <p:nvPr>
            <p:ph type="title"/>
          </p:nvPr>
        </p:nvSpPr>
        <p:spPr>
          <a:xfrm>
            <a:off x="571499" y="348662"/>
            <a:ext cx="11209376" cy="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PathFinder AI is a full-stack career guidance platform for students and job seekers.</a:t>
            </a:r>
          </a:p>
          <a:p/>
          <a:p>
            <a:r>
              <a:t>What it does:</a:t>
            </a:r>
          </a:p>
          <a:p>
            <a:r>
              <a:t>• Maps resume/profile skills to real job requirements with explainable scores</a:t>
            </a:r>
          </a:p>
          <a:p>
            <a:r>
              <a:t>• Recommends careers (KNN) and ranks jobs (Model 2 similarity + Doc2Vec fallback)</a:t>
            </a:r>
          </a:p>
          <a:p>
            <a:r>
              <a:t>• Builds personalized learning roadmaps (Google Gemini) with gap analysis</a:t>
            </a:r>
          </a:p>
          <a:p>
            <a:r>
              <a:t>• Adapts roadmaps from learner feedback using a constrained contextual bandit</a:t>
            </a:r>
          </a:p>
          <a:p/>
          <a:p>
            <a:r>
              <a:t>Stack: React (UI) | FastAPI + SQLite (API/DB) | XGBoost, Doc2Vec, KNN | Gemini | ChromaDB RAG (chat)</a:t>
            </a:r>
          </a:p>
          <a:p>
            <a:r>
              <a:t>Roles: Job seeker (profile, match, roadmap) and Recruiter (post/manage jobs)</a:t>
            </a:r>
          </a:p>
        </p:txBody>
      </p:sp>
      <p:sp>
        <p:nvSpPr>
          <p:cNvPr id="223" name="Google Shape;223;p3"/>
          <p:cNvSpPr txBox="1">
            <a:spLocks noGrp="1"/>
          </p:cNvSpPr>
          <p:nvPr>
            <p:ph type="sldNum" idx="12"/>
          </p:nvPr>
        </p:nvSpPr>
        <p:spPr>
          <a:xfrm>
            <a:off x="0" y="6525814"/>
            <a:ext cx="5714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11F30-BB69-0717-E929-84776C4BBE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8324" y="644961"/>
            <a:ext cx="12093676" cy="5362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Career platforms often give generic advice without clear job-fit reasoning.</a:t>
            </a:r>
          </a:p>
          <a:p>
            <a:r>
              <a:t>PathFinder AI is a full-stack web platform (React + FastAPI + SQLite) for students and job seekers.</a:t>
            </a:r>
          </a:p>
          <a:p>
            <a:r>
              <a:t>Two roles: job seeker and recruiter.</a:t>
            </a:r>
          </a:p>
          <a:p>
            <a:r>
              <a:t>The system: KNN career suggestions; job ranking (Doc2Vec + importance-weighted similarity); Gemini roadmaps with gap analysis; contextual bandit adapts saved roadmaps from task feedback.</a:t>
            </a:r>
          </a:p>
          <a:p>
            <a:r>
              <a:t>Stack: React, FastAPI, SQLite, ChromaDB (optional RAG), XGBoost, gensim Doc2Vec, Google Gemini.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"/>
          <p:cNvSpPr txBox="1">
            <a:spLocks noGrp="1"/>
          </p:cNvSpPr>
          <p:nvPr>
            <p:ph type="body" idx="1"/>
          </p:nvPr>
        </p:nvSpPr>
        <p:spPr>
          <a:xfrm>
            <a:off x="452284" y="1061884"/>
            <a:ext cx="11739715" cy="498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Problem statement:</a:t>
            </a:r>
          </a:p>
          <a:p>
            <a:r>
              <a:t>• Generic portals use keywords — weak explainability and no learning path</a:t>
            </a:r>
          </a:p>
          <a:p>
            <a:r>
              <a:t>• Users cannot see which JD skills they lack or how important each skill is</a:t>
            </a:r>
          </a:p>
          <a:p>
            <a:r>
              <a:t>• Static roadmaps do not react when a task is too hard or off-target</a:t>
            </a:r>
          </a:p>
          <a:p>
            <a:r>
              <a:t>• Seekers and recruiters lack one integrated workflow</a:t>
            </a:r>
          </a:p>
          <a:p/>
          <a:p>
            <a:r>
              <a:t>Objectives:</a:t>
            </a:r>
          </a:p>
          <a:p>
            <a:r>
              <a:t>• JWT-secured dual-role web application</a:t>
            </a:r>
          </a:p>
          <a:p>
            <a:r>
              <a:t>• Resume understanding + structured user profile</a:t>
            </a:r>
          </a:p>
          <a:p>
            <a:r>
              <a:t>• Explainable job ranking (similarity %, matched/missing skills)</a:t>
            </a:r>
          </a:p>
          <a:p>
            <a:r>
              <a:t>• Model 1: JD skill importance (core / important / supporting / optional)</a:t>
            </a:r>
          </a:p>
          <a:p>
            <a:r>
              <a:t>• Model 2: weighted user–job similarity matching (not fit-class labels)</a:t>
            </a:r>
          </a:p>
          <a:p>
            <a:r>
              <a:t>• Gemini roadmaps + contextual bandit adaptation from task feedback</a:t>
            </a:r>
          </a:p>
        </p:txBody>
      </p:sp>
      <p:sp>
        <p:nvSpPr>
          <p:cNvPr id="229" name="Google Shape;229;p4"/>
          <p:cNvSpPr txBox="1">
            <a:spLocks noGrp="1"/>
          </p:cNvSpPr>
          <p:nvPr>
            <p:ph type="title"/>
          </p:nvPr>
        </p:nvSpPr>
        <p:spPr>
          <a:xfrm>
            <a:off x="571499" y="348662"/>
            <a:ext cx="11209376" cy="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3200"/>
              <a:buFont typeface="Georgia"/>
              <a:buNone/>
            </a:pPr>
            <a:r>
              <a:rPr lang="en-US" dirty="0"/>
              <a:t>Problem &amp; Objective </a:t>
            </a:r>
            <a:endParaRPr dirty="0"/>
          </a:p>
        </p:txBody>
      </p:sp>
      <p:sp>
        <p:nvSpPr>
          <p:cNvPr id="230" name="Google Shape;230;p4"/>
          <p:cNvSpPr txBox="1">
            <a:spLocks noGrp="1"/>
          </p:cNvSpPr>
          <p:nvPr>
            <p:ph type="sldNum" idx="12"/>
          </p:nvPr>
        </p:nvSpPr>
        <p:spPr>
          <a:xfrm>
            <a:off x="0" y="6525814"/>
            <a:ext cx="5714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"/>
          <p:cNvSpPr txBox="1">
            <a:spLocks noGrp="1"/>
          </p:cNvSpPr>
          <p:nvPr>
            <p:ph type="body" idx="1"/>
          </p:nvPr>
        </p:nvSpPr>
        <p:spPr>
          <a:xfrm>
            <a:off x="571499" y="1137256"/>
            <a:ext cx="11209376" cy="490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End-to-end pipeline:</a:t>
            </a:r>
          </a:p>
          <a:p/>
          <a:p>
            <a:r>
              <a:t>1. Data &amp; skills — 460-skill lexicon; competency extraction from JD text; resume skills via Gemini (local lexicon fallback on API limits)</a:t>
            </a:r>
          </a:p>
          <a:p/>
          <a:p>
            <a:r>
              <a:t>2. Model 1 (XGBoost) — labels each JD skill by importance; cached on Job until JD changes</a:t>
            </a:r>
          </a:p>
          <a:p/>
          <a:p>
            <a:r>
              <a:t>3. Model 2 (similarity) — scores user vs job 0–100 from weighted overlap, experience alignment, light lexical match; lists matched/missing/critical skills</a:t>
            </a:r>
          </a:p>
          <a:p/>
          <a:p>
            <a:r>
              <a:t>4. Doc2Vec baseline — semantic embedding + 70/30 skill hybrid when profile is sparse</a:t>
            </a:r>
          </a:p>
          <a:p/>
          <a:p>
            <a:r>
              <a:t>5. Gemini — phased roadmap JSON (role summary, gaps, tasks with jd_alignment)</a:t>
            </a:r>
          </a:p>
          <a:p/>
          <a:p>
            <a:r>
              <a:t>6. Contextual bandit (ε=0.15) — 7 roadmap actions, 10-D state, action masking; Gemini rewrites tasks only when the bandit selects an edit action</a:t>
            </a:r>
          </a:p>
        </p:txBody>
      </p:sp>
      <p:sp>
        <p:nvSpPr>
          <p:cNvPr id="236" name="Google Shape;236;p5"/>
          <p:cNvSpPr txBox="1">
            <a:spLocks noGrp="1"/>
          </p:cNvSpPr>
          <p:nvPr>
            <p:ph type="title"/>
          </p:nvPr>
        </p:nvSpPr>
        <p:spPr>
          <a:xfrm>
            <a:off x="571499" y="348662"/>
            <a:ext cx="11209376" cy="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3200"/>
              <a:buFont typeface="Georgia"/>
              <a:buNone/>
            </a:pPr>
            <a:r>
              <a:rPr lang="en-US" dirty="0"/>
              <a:t>Proposed Solution Overview </a:t>
            </a:r>
            <a:endParaRPr dirty="0"/>
          </a:p>
        </p:txBody>
      </p:sp>
      <p:sp>
        <p:nvSpPr>
          <p:cNvPr id="237" name="Google Shape;237;p5"/>
          <p:cNvSpPr txBox="1">
            <a:spLocks noGrp="1"/>
          </p:cNvSpPr>
          <p:nvPr>
            <p:ph type="sldNum" idx="12"/>
          </p:nvPr>
        </p:nvSpPr>
        <p:spPr>
          <a:xfrm>
            <a:off x="0" y="6525814"/>
            <a:ext cx="5714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67b653116_0_1"/>
          <p:cNvSpPr txBox="1">
            <a:spLocks noGrp="1"/>
          </p:cNvSpPr>
          <p:nvPr>
            <p:ph type="body" idx="1"/>
          </p:nvPr>
        </p:nvSpPr>
        <p:spPr>
          <a:xfrm>
            <a:off x="411001" y="812762"/>
            <a:ext cx="11868085" cy="4434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Design principles:</a:t>
            </a:r>
          </a:p>
          <a:p>
            <a:r>
              <a:t>• Modular matchers: semantic (Doc2Vec) + structured (Model 1 + Model 2)</a:t>
            </a:r>
          </a:p>
          <a:p>
            <a:r>
              <a:t>• Persist expensive JD analysis once per job (Model 1)</a:t>
            </a:r>
          </a:p>
          <a:p>
            <a:r>
              <a:t>• Bandit for roadmaps only — not MDP/deep RL; safe masked exploration</a:t>
            </a:r>
          </a:p>
          <a:p>
            <a:r>
              <a:t>• Optional RAG chat grounded in seeded career documents</a:t>
            </a:r>
          </a:p>
          <a:p/>
          <a:p>
            <a:r>
              <a:t>User journey:</a:t>
            </a:r>
          </a:p>
          <a:p>
            <a:r>
              <a:t>1. Register → build profile → upload resume</a:t>
            </a:r>
          </a:p>
          <a:p>
            <a:r>
              <a:t>2. Career recommendations (KNN) + browse/search jobs</a:t>
            </a:r>
          </a:p>
          <a:p>
            <a:r>
              <a:t>3. Job matching → ranked by similarity_score</a:t>
            </a:r>
          </a:p>
          <a:p>
            <a:r>
              <a:t>4. Generate &amp; save roadmap per job (upsert — survives refresh)</a:t>
            </a:r>
          </a:p>
          <a:p>
            <a:r>
              <a:t>5. Per-task feedback: Complete | Too Hard | Too Easy | Skip &amp; Regenerate</a:t>
            </a:r>
          </a:p>
          <a:p>
            <a:r>
              <a:t>6. Phase 2: log interaction → recommend action → adapt roadmap</a:t>
            </a:r>
          </a:p>
          <a:p>
            <a:r>
              <a:t>7. Recruiter posts jobs → Model 1 skills auto-analyzed on create</a:t>
            </a:r>
          </a:p>
        </p:txBody>
      </p:sp>
      <p:sp>
        <p:nvSpPr>
          <p:cNvPr id="243" name="Google Shape;243;g3e67b653116_0_1"/>
          <p:cNvSpPr txBox="1">
            <a:spLocks noGrp="1"/>
          </p:cNvSpPr>
          <p:nvPr>
            <p:ph type="title"/>
          </p:nvPr>
        </p:nvSpPr>
        <p:spPr>
          <a:xfrm>
            <a:off x="571499" y="348662"/>
            <a:ext cx="112095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3200"/>
              <a:buFont typeface="Georgia"/>
              <a:buNone/>
            </a:pPr>
            <a:r>
              <a:rPr lang="en-US" dirty="0"/>
              <a:t>Proposed Solution Overview </a:t>
            </a:r>
            <a:endParaRPr dirty="0"/>
          </a:p>
        </p:txBody>
      </p:sp>
      <p:sp>
        <p:nvSpPr>
          <p:cNvPr id="244" name="Google Shape;244;g3e67b653116_0_1"/>
          <p:cNvSpPr txBox="1">
            <a:spLocks noGrp="1"/>
          </p:cNvSpPr>
          <p:nvPr>
            <p:ph type="sldNum" idx="12"/>
          </p:nvPr>
        </p:nvSpPr>
        <p:spPr>
          <a:xfrm>
            <a:off x="0" y="6525814"/>
            <a:ext cx="571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67b653116_0_30"/>
          <p:cNvSpPr txBox="1">
            <a:spLocks noGrp="1"/>
          </p:cNvSpPr>
          <p:nvPr>
            <p:ph type="title"/>
          </p:nvPr>
        </p:nvSpPr>
        <p:spPr>
          <a:xfrm>
            <a:off x="571499" y="348662"/>
            <a:ext cx="112095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System context (C4-style):</a:t>
            </a:r>
          </a:p>
          <a:p>
            <a:r>
              <a:t>• Actors: Job seeker, Recruiter</a:t>
            </a:r>
          </a:p>
          <a:p>
            <a:r>
              <a:t>• PathFinder AI: React SPA + FastAPI API + SQLite</a:t>
            </a:r>
          </a:p>
          <a:p>
            <a:r>
              <a:t>• External: Google Gemini API; optional ChromaDB vector store</a:t>
            </a:r>
          </a:p>
          <a:p/>
          <a:p>
            <a:r>
              <a:t>Major containers:</a:t>
            </a:r>
          </a:p>
          <a:p>
            <a:r>
              <a:t>• Frontend — routing, auth, job board, matching UI, roadmap detail, chat widget</a:t>
            </a:r>
          </a:p>
          <a:p>
            <a:r>
              <a:t>• Backend — auth, jobs CRUD, profiles, match routes, Phase 2, roadmaps</a:t>
            </a:r>
          </a:p>
          <a:p>
            <a:r>
              <a:t>• ML layer — KNN careers, Doc2Vec jobs, Model 1/2 services, rl_model.pkl bandit</a:t>
            </a:r>
          </a:p>
        </p:txBody>
      </p:sp>
      <p:sp>
        <p:nvSpPr>
          <p:cNvPr id="264" name="Google Shape;264;g3e67b653116_0_30"/>
          <p:cNvSpPr txBox="1">
            <a:spLocks noGrp="1"/>
          </p:cNvSpPr>
          <p:nvPr>
            <p:ph type="sldNum" idx="12"/>
          </p:nvPr>
        </p:nvSpPr>
        <p:spPr>
          <a:xfrm>
            <a:off x="0" y="6525814"/>
            <a:ext cx="571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AB4F44-4113-EF5F-4676-30FBB3406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2" y="925286"/>
            <a:ext cx="11756817" cy="54537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"/>
          <p:cNvSpPr txBox="1">
            <a:spLocks noGrp="1"/>
          </p:cNvSpPr>
          <p:nvPr>
            <p:ph type="body" idx="1"/>
          </p:nvPr>
        </p:nvSpPr>
        <p:spPr>
          <a:xfrm>
            <a:off x="217713" y="812662"/>
            <a:ext cx="11563161" cy="7155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Layers &amp; deployment:</a:t>
            </a:r>
          </a:p>
          <a:p>
            <a:r>
              <a:t>• Presentation: React SPA — http://localhost:3000</a:t>
            </a:r>
          </a:p>
          <a:p>
            <a:r>
              <a:t>• API: FastAPI + uvicorn — http://localhost:8001 (Swagger /docs)</a:t>
            </a:r>
          </a:p>
          <a:p>
            <a:r>
              <a:t>• Persistence: SQLite pathfinder.db; Alembic migrations</a:t>
            </a:r>
          </a:p>
          <a:p/>
          <a:p>
            <a:r>
              <a:t>ML / AI services:</a:t>
            </a:r>
          </a:p>
          <a:p>
            <a:r>
              <a:t>• KNN + MultiLabelBinarizer — career recommendations</a:t>
            </a:r>
          </a:p>
          <a:p>
            <a:r>
              <a:t>• gensim Doc2Vec — job embedding similarity (fallback matcher)</a:t>
            </a:r>
          </a:p>
          <a:p>
            <a:r>
              <a:t>• Model 1 — XGBoost skill importance (model1.pkl)</a:t>
            </a:r>
          </a:p>
          <a:p>
            <a:r>
              <a:t>• Model 2 — rule-based similarity scoring (uses Model 1 output at runtime)</a:t>
            </a:r>
          </a:p>
          <a:p>
            <a:r>
              <a:t>• Bandit — rl_model.pkl, 7×10 linear policy, ε-greedy 0.15</a:t>
            </a:r>
          </a:p>
          <a:p>
            <a:r>
              <a:t>• Gemini — roadmaps + optional task rewrites; ChromaDB RAG for chat</a:t>
            </a:r>
          </a:p>
          <a:p/>
          <a:p>
            <a:r>
              <a:t>Training data: datasets/ (799 jobs, 12K skill rows, skills.json lexicon)</a:t>
            </a:r>
          </a:p>
        </p:txBody>
      </p:sp>
      <p:sp>
        <p:nvSpPr>
          <p:cNvPr id="250" name="Google Shape;250;p6"/>
          <p:cNvSpPr txBox="1">
            <a:spLocks noGrp="1"/>
          </p:cNvSpPr>
          <p:nvPr>
            <p:ph type="title"/>
          </p:nvPr>
        </p:nvSpPr>
        <p:spPr>
          <a:xfrm>
            <a:off x="571499" y="348662"/>
            <a:ext cx="11209376" cy="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3200"/>
              <a:buFont typeface="Georgia"/>
              <a:buNone/>
            </a:pPr>
            <a:r>
              <a:rPr lang="en-US" dirty="0"/>
              <a:t>System Architecture / Design </a:t>
            </a:r>
            <a:endParaRPr dirty="0"/>
          </a:p>
        </p:txBody>
      </p:sp>
      <p:sp>
        <p:nvSpPr>
          <p:cNvPr id="251" name="Google Shape;251;p6"/>
          <p:cNvSpPr txBox="1">
            <a:spLocks noGrp="1"/>
          </p:cNvSpPr>
          <p:nvPr>
            <p:ph type="sldNum" idx="12"/>
          </p:nvPr>
        </p:nvSpPr>
        <p:spPr>
          <a:xfrm>
            <a:off x="0" y="6525814"/>
            <a:ext cx="5714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67b653116_0_37"/>
          <p:cNvSpPr txBox="1">
            <a:spLocks noGrp="1"/>
          </p:cNvSpPr>
          <p:nvPr>
            <p:ph type="title"/>
          </p:nvPr>
        </p:nvSpPr>
        <p:spPr>
          <a:xfrm>
            <a:off x="571499" y="348662"/>
            <a:ext cx="112095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Runtime workflow:</a:t>
            </a:r>
          </a:p>
          <a:p/>
          <a:p>
            <a:r>
              <a:t>Seeker: Login → Profile/Resume → POST /api/ai/recommend-careers (KNN)</a:t>
            </a:r>
          </a:p>
          <a:p>
            <a:r>
              <a:t>→ Search jobs → POST /api/ai/match-jobs (Model 2 rank, Doc2Vec fallback)</a:t>
            </a:r>
          </a:p>
          <a:p>
            <a:r>
              <a:t>→ Job detail → POST /api/jobs/{id}/generate-roadmap-for-user (Gemini)</a:t>
            </a:r>
          </a:p>
          <a:p>
            <a:r>
              <a:t>→ Save roadmap (upsert per user+job)</a:t>
            </a:r>
          </a:p>
          <a:p/>
          <a:p>
            <a:r>
              <a:t>Adaptation loop on roadmap task:</a:t>
            </a:r>
          </a:p>
          <a:p>
            <a:r>
              <a:t>→ POST /api/phase2/interactions/log (reward + credit assignment)</a:t>
            </a:r>
          </a:p>
          <a:p>
            <a:r>
              <a:t>→ GET /api/phase2/recommend (masked bandit arm + valid_actions)</a:t>
            </a:r>
          </a:p>
          <a:p>
            <a:r>
              <a:t>→ POST /api/phase2/roadmap/adapt (apply JSON edit; Gemini if needed)</a:t>
            </a:r>
          </a:p>
          <a:p/>
          <a:p>
            <a:r>
              <a:t>Recruiter: POST job with JD → analyze-jd persisted → seekers match against stored skills</a:t>
            </a:r>
          </a:p>
        </p:txBody>
      </p:sp>
      <p:sp>
        <p:nvSpPr>
          <p:cNvPr id="258" name="Google Shape;258;g3e67b653116_0_37"/>
          <p:cNvSpPr txBox="1">
            <a:spLocks noGrp="1"/>
          </p:cNvSpPr>
          <p:nvPr>
            <p:ph type="sldNum" idx="12"/>
          </p:nvPr>
        </p:nvSpPr>
        <p:spPr>
          <a:xfrm>
            <a:off x="0" y="6525814"/>
            <a:ext cx="571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B929F7-5723-3948-D8F4-2CBA677D5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458" y="1008507"/>
            <a:ext cx="8268928" cy="51089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"/>
          <p:cNvSpPr txBox="1">
            <a:spLocks noGrp="1"/>
          </p:cNvSpPr>
          <p:nvPr>
            <p:ph type="title"/>
          </p:nvPr>
        </p:nvSpPr>
        <p:spPr>
          <a:xfrm>
            <a:off x="571499" y="348662"/>
            <a:ext cx="11209376" cy="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3200"/>
              <a:buFont typeface="Georgia"/>
              <a:buNone/>
            </a:pPr>
            <a:r>
              <a:rPr lang="en-US" dirty="0"/>
              <a:t>Implementation Details </a:t>
            </a:r>
            <a:endParaRPr dirty="0"/>
          </a:p>
        </p:txBody>
      </p:sp>
      <p:sp>
        <p:nvSpPr>
          <p:cNvPr id="271" name="Google Shape;271;p7"/>
          <p:cNvSpPr txBox="1">
            <a:spLocks noGrp="1"/>
          </p:cNvSpPr>
          <p:nvPr>
            <p:ph type="sldNum" idx="12"/>
          </p:nvPr>
        </p:nvSpPr>
        <p:spPr>
          <a:xfrm>
            <a:off x="0" y="6525814"/>
            <a:ext cx="5714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72" name="Google Shape;272;p7"/>
          <p:cNvSpPr txBox="1">
            <a:spLocks noGrp="1"/>
          </p:cNvSpPr>
          <p:nvPr>
            <p:ph type="body" idx="1"/>
          </p:nvPr>
        </p:nvSpPr>
        <p:spPr>
          <a:xfrm>
            <a:off x="304800" y="903514"/>
            <a:ext cx="11476075" cy="3907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Technologies:</a:t>
            </a:r>
          </a:p>
          <a:p>
            <a:r>
              <a:t>• Frontend: React, React Router, Axios, JWT in localStorage</a:t>
            </a:r>
          </a:p>
          <a:p>
            <a:r>
              <a:t>• Backend: FastAPI, SQLAlchemy, Alembic, Pydantic schemas, bcrypt/JWT</a:t>
            </a:r>
          </a:p>
          <a:p>
            <a:r>
              <a:t>• Database: SQLite (dev); auto column migrate for jd_analyzed_skills fields</a:t>
            </a:r>
          </a:p>
          <a:p/>
          <a:p>
            <a:r>
              <a:t>AI / ML libraries:</a:t>
            </a:r>
          </a:p>
          <a:p>
            <a:r>
              <a:t>• scikit-learn (KNN), gensim (Doc2Vec), XGBoost (Model 1 training)</a:t>
            </a:r>
          </a:p>
          <a:p>
            <a:r>
              <a:t>• sentence-transformers / MiniLM features in Model 1 pipeline</a:t>
            </a:r>
          </a:p>
          <a:p>
            <a:r>
              <a:t>• google-generativeai (Gemini with model fallback chain)</a:t>
            </a:r>
          </a:p>
          <a:p>
            <a:r>
              <a:t>• chromadb — RAG retrieval for chatbot</a:t>
            </a:r>
          </a:p>
          <a:p/>
          <a:p>
            <a:r>
              <a:t>DevOps: start_all.bat; seed_rag.py; e2e_adaptive_roadmap_flow.py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e67b653116_0_10"/>
          <p:cNvSpPr txBox="1">
            <a:spLocks noGrp="1"/>
          </p:cNvSpPr>
          <p:nvPr>
            <p:ph type="title"/>
          </p:nvPr>
        </p:nvSpPr>
        <p:spPr>
          <a:xfrm>
            <a:off x="571499" y="348662"/>
            <a:ext cx="112095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3200"/>
              <a:buFont typeface="Georgia"/>
              <a:buNone/>
            </a:pPr>
            <a:r>
              <a:rPr lang="en-US" dirty="0"/>
              <a:t>Implementation Details </a:t>
            </a:r>
            <a:endParaRPr dirty="0"/>
          </a:p>
        </p:txBody>
      </p:sp>
      <p:sp>
        <p:nvSpPr>
          <p:cNvPr id="278" name="Google Shape;278;g3e67b653116_0_10"/>
          <p:cNvSpPr txBox="1">
            <a:spLocks noGrp="1"/>
          </p:cNvSpPr>
          <p:nvPr>
            <p:ph type="sldNum" idx="12"/>
          </p:nvPr>
        </p:nvSpPr>
        <p:spPr>
          <a:xfrm>
            <a:off x="0" y="6525814"/>
            <a:ext cx="571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79" name="Google Shape;279;g3e67b653116_0_10"/>
          <p:cNvSpPr txBox="1">
            <a:spLocks noGrp="1"/>
          </p:cNvSpPr>
          <p:nvPr>
            <p:ph type="body" idx="1"/>
          </p:nvPr>
        </p:nvSpPr>
        <p:spPr>
          <a:xfrm>
            <a:off x="571499" y="1137256"/>
            <a:ext cx="11209500" cy="49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Implemented features:</a:t>
            </a:r>
          </a:p>
          <a:p>
            <a:r>
              <a:t>• Auth: /api/auth/register-user | register-recruiter | token login</a:t>
            </a:r>
          </a:p>
          <a:p>
            <a:r>
              <a:t>• Profile + resume upload; skill extraction</a:t>
            </a:r>
          </a:p>
          <a:p>
            <a:r>
              <a:t>• Careers: POST /api/ai/recommend-careers</a:t>
            </a:r>
          </a:p>
          <a:p>
            <a:r>
              <a:t>• Jobs: search/filter, compare (up to 3), detail, recruiter CRUD</a:t>
            </a:r>
          </a:p>
          <a:p>
            <a:r>
              <a:t>• Model 1: POST /analyze-jd, GET /jobs/{id}/analyzed-skills (cached)</a:t>
            </a:r>
          </a:p>
          <a:p>
            <a:r>
              <a:t>• Model 2: POST /match-user-job, POST /recommend-jobs; match-jobs uses Model 2 first</a:t>
            </a:r>
          </a:p>
          <a:p>
            <a:r>
              <a:t>• Roadmaps: generate, get, upsert save per job</a:t>
            </a:r>
          </a:p>
          <a:p>
            <a:r>
              <a:t>• Phase 2: interactions/log, recommend, roadmap/adapt</a:t>
            </a:r>
          </a:p>
          <a:p>
            <a:r>
              <a:t>• Chat: RAG + session history per page context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8"/>
          <p:cNvSpPr txBox="1">
            <a:spLocks noGrp="1"/>
          </p:cNvSpPr>
          <p:nvPr>
            <p:ph type="body" idx="1"/>
          </p:nvPr>
        </p:nvSpPr>
        <p:spPr>
          <a:xfrm>
            <a:off x="571499" y="1137256"/>
            <a:ext cx="11209376" cy="490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Training data:</a:t>
            </a:r>
          </a:p>
          <a:p>
            <a:r>
              <a:t>• 799 balanced job postings; 12,375 (job, competency) rows; 460-skill lexicon</a:t>
            </a:r>
          </a:p>
          <a:p/>
          <a:p>
            <a:r>
              <a:t>Model 1 — XGBoost JD skill importance (held-out test n=1,857):</a:t>
            </a:r>
          </a:p>
          <a:p>
            <a:r>
              <a:t>• Accuracy 98.60% | macro-F1 97.32%</a:t>
            </a:r>
          </a:p>
          <a:p>
            <a:r>
              <a:t>• F1 by class: core 0.97 | important 0.95 | supporting 0.99 | optional 0.99</a:t>
            </a:r>
          </a:p>
          <a:p>
            <a:r>
              <a:t>• Key features: context_score (41%), section_score (37%)</a:t>
            </a:r>
          </a:p>
          <a:p/>
          <a:p>
            <a:r>
              <a:t>Model 2 — similarity matching (production, not high/medium/low labels):</a:t>
            </a:r>
          </a:p>
          <a:p>
            <a:r>
              <a:t>• similarity_score 0–100: weighted matched vs missing skills from Model 1 tiers</a:t>
            </a:r>
          </a:p>
          <a:p>
            <a:r>
              <a:t>• Weights core×3, important×2, supporting×1, optional×0.5</a:t>
            </a:r>
          </a:p>
          <a:p>
            <a:r>
              <a:t>• Blend 72% skills + 20% experience + 8% lexical; penalty for missing core skills</a:t>
            </a:r>
          </a:p>
          <a:p/>
          <a:p>
            <a:r>
              <a:t>Roadmap bandit: ε=0.15, 7 actions, 10-dimensional state vector</a:t>
            </a:r>
          </a:p>
        </p:txBody>
      </p:sp>
      <p:sp>
        <p:nvSpPr>
          <p:cNvPr id="285" name="Google Shape;285;p8"/>
          <p:cNvSpPr txBox="1">
            <a:spLocks noGrp="1"/>
          </p:cNvSpPr>
          <p:nvPr>
            <p:ph type="title"/>
          </p:nvPr>
        </p:nvSpPr>
        <p:spPr>
          <a:xfrm>
            <a:off x="571499" y="348662"/>
            <a:ext cx="11209376" cy="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3200"/>
              <a:buFont typeface="Georgia"/>
              <a:buNone/>
            </a:pPr>
            <a:r>
              <a:rPr lang="en-US" dirty="0"/>
              <a:t>Results &amp; Performance </a:t>
            </a:r>
            <a:endParaRPr dirty="0"/>
          </a:p>
        </p:txBody>
      </p:sp>
      <p:sp>
        <p:nvSpPr>
          <p:cNvPr id="286" name="Google Shape;286;p8"/>
          <p:cNvSpPr txBox="1">
            <a:spLocks noGrp="1"/>
          </p:cNvSpPr>
          <p:nvPr>
            <p:ph type="sldNum" idx="12"/>
          </p:nvPr>
        </p:nvSpPr>
        <p:spPr>
          <a:xfrm>
            <a:off x="0" y="6525814"/>
            <a:ext cx="5714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e67b653116_0_16"/>
          <p:cNvSpPr txBox="1">
            <a:spLocks noGrp="1"/>
          </p:cNvSpPr>
          <p:nvPr>
            <p:ph type="body" idx="1"/>
          </p:nvPr>
        </p:nvSpPr>
        <p:spPr>
          <a:xfrm>
            <a:off x="571499" y="1137256"/>
            <a:ext cx="11209500" cy="49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Demonstration scenarios:</a:t>
            </a:r>
          </a:p>
          <a:p>
            <a:r>
              <a:t>1. New user — resume upload → skills on profile → KNN top careers</a:t>
            </a:r>
          </a:p>
          <a:p>
            <a:r>
              <a:t>2. Job board — search by title/location/skills; open job detail</a:t>
            </a:r>
          </a:p>
          <a:p>
            <a:r>
              <a:t>3. Job matching — list sorted by similarity_score with skill breakdown</a:t>
            </a:r>
          </a:p>
          <a:p>
            <a:r>
              <a:t>4. Analyze JD — core/important skills visible; cached after first run</a:t>
            </a:r>
          </a:p>
          <a:p>
            <a:r>
              <a:t>5. Generate roadmap — phases, gap_analysis, tasks; persists on reload</a:t>
            </a:r>
          </a:p>
          <a:p>
            <a:r>
              <a:t>6. Too Hard on a task — bandit picks DECREASE_DIFFICULTY or ADD_PREREQUISITE; Gemini rewrites task JSON</a:t>
            </a:r>
          </a:p>
          <a:p>
            <a:r>
              <a:t>7. Compare jobs side-by-side; recruiter flow creates job with auto skill analysis</a:t>
            </a:r>
          </a:p>
          <a:p/>
          <a:p>
            <a:r>
              <a:t>User-visible explainability: similarity %, tiered skills, gap text, adaptation reason</a:t>
            </a:r>
          </a:p>
        </p:txBody>
      </p:sp>
      <p:sp>
        <p:nvSpPr>
          <p:cNvPr id="292" name="Google Shape;292;g3e67b653116_0_16"/>
          <p:cNvSpPr txBox="1">
            <a:spLocks noGrp="1"/>
          </p:cNvSpPr>
          <p:nvPr>
            <p:ph type="title"/>
          </p:nvPr>
        </p:nvSpPr>
        <p:spPr>
          <a:xfrm>
            <a:off x="571499" y="348662"/>
            <a:ext cx="112095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3200"/>
              <a:buFont typeface="Georgia"/>
              <a:buNone/>
            </a:pPr>
            <a:r>
              <a:rPr lang="en-US" dirty="0"/>
              <a:t>Results &amp; Performance </a:t>
            </a:r>
            <a:endParaRPr dirty="0"/>
          </a:p>
        </p:txBody>
      </p:sp>
      <p:sp>
        <p:nvSpPr>
          <p:cNvPr id="293" name="Google Shape;293;g3e67b653116_0_16"/>
          <p:cNvSpPr txBox="1">
            <a:spLocks noGrp="1"/>
          </p:cNvSpPr>
          <p:nvPr>
            <p:ph type="sldNum" idx="12"/>
          </p:nvPr>
        </p:nvSpPr>
        <p:spPr>
          <a:xfrm>
            <a:off x="0" y="6525814"/>
            <a:ext cx="571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>
          <a:extLst>
            <a:ext uri="{FF2B5EF4-FFF2-40B4-BE49-F238E27FC236}">
              <a16:creationId xmlns:a16="http://schemas.microsoft.com/office/drawing/2014/main" id="{3499022D-CDF7-05B1-5C7F-E187738F2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">
            <a:extLst>
              <a:ext uri="{FF2B5EF4-FFF2-40B4-BE49-F238E27FC236}">
                <a16:creationId xmlns:a16="http://schemas.microsoft.com/office/drawing/2014/main" id="{7EF20638-ACA4-A1A5-B9C0-EFAF152B01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63794" y="812663"/>
            <a:ext cx="13057237" cy="223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Objectives met:</a:t>
            </a:r>
          </a:p>
          <a:p>
            <a:r>
              <a:t>• Full-stack dual-role platform with secure API</a:t>
            </a:r>
          </a:p>
          <a:p>
            <a:r>
              <a:t>• Explainable matching (Model 1 tiers + Model 2 similarity lists)</a:t>
            </a:r>
          </a:p>
          <a:p>
            <a:r>
              <a:t>• Personalized Gemini roadmaps stored per user–job pair</a:t>
            </a:r>
          </a:p>
          <a:p>
            <a:r>
              <a:t>• Adaptive learning via constrained contextual bandit + masked actions</a:t>
            </a:r>
          </a:p>
          <a:p>
            <a:r>
              <a:t>• Integrated recruiter job management</a:t>
            </a:r>
          </a:p>
          <a:p/>
          <a:p>
            <a:r>
              <a:t>Analysis:</a:t>
            </a:r>
          </a:p>
          <a:p>
            <a:r>
              <a:t>• Model 1 gives strong offline accuracy for JD parsing — reduces repeated LLM cost</a:t>
            </a:r>
          </a:p>
          <a:p>
            <a:r>
              <a:t>• Model 2 similarity is interpretable and aligned with product (ranking, not classes)</a:t>
            </a:r>
          </a:p>
          <a:p>
            <a:r>
              <a:t>• Bandit is appropriate for single-step roadmap edits with immediate feedback</a:t>
            </a:r>
          </a:p>
          <a:p>
            <a:r>
              <a:t>• Doc2Vec retains value as semantic fallback for thin profiles</a:t>
            </a:r>
          </a:p>
        </p:txBody>
      </p:sp>
      <p:sp>
        <p:nvSpPr>
          <p:cNvPr id="299" name="Google Shape;299;p9">
            <a:extLst>
              <a:ext uri="{FF2B5EF4-FFF2-40B4-BE49-F238E27FC236}">
                <a16:creationId xmlns:a16="http://schemas.microsoft.com/office/drawing/2014/main" id="{2B0486E6-F48E-CEE9-D05D-DE529C8FE3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499" y="348662"/>
            <a:ext cx="11209376" cy="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3200"/>
              <a:buFont typeface="Georgia"/>
              <a:buNone/>
            </a:pPr>
            <a:r>
              <a:rPr lang="en-US" dirty="0"/>
              <a:t>Evaluation &amp; Analysis  </a:t>
            </a:r>
            <a:endParaRPr dirty="0"/>
          </a:p>
        </p:txBody>
      </p:sp>
      <p:sp>
        <p:nvSpPr>
          <p:cNvPr id="300" name="Google Shape;300;p9">
            <a:extLst>
              <a:ext uri="{FF2B5EF4-FFF2-40B4-BE49-F238E27FC236}">
                <a16:creationId xmlns:a16="http://schemas.microsoft.com/office/drawing/2014/main" id="{23C2BDCE-09CD-B41A-B901-4F3BB72B704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6525814"/>
            <a:ext cx="5714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5884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67b653116_0_22"/>
          <p:cNvSpPr txBox="1">
            <a:spLocks noGrp="1"/>
          </p:cNvSpPr>
          <p:nvPr>
            <p:ph type="body" idx="1"/>
          </p:nvPr>
        </p:nvSpPr>
        <p:spPr>
          <a:xfrm>
            <a:off x="294967" y="727587"/>
            <a:ext cx="13067071" cy="1500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Comparison with alternatives:</a:t>
            </a:r>
          </a:p>
          <a:p>
            <a:r>
              <a:t>• vs keyword job boards: importance-weighted skills + learning roadmaps</a:t>
            </a:r>
          </a:p>
          <a:p>
            <a:r>
              <a:t>• vs embedding-only match: adds Model 1 structure + explicit missing-skill lists</a:t>
            </a:r>
          </a:p>
          <a:p>
            <a:r>
              <a:t>• vs static MOOC paths: feedback-driven roadmap edits with safety constraints</a:t>
            </a:r>
          </a:p>
          <a:p/>
          <a:p>
            <a:r>
              <a:t>Strengths:</a:t>
            </a:r>
          </a:p>
          <a:p>
            <a:r>
              <a:t>• Clear separation: Model 1 (JD), Model 2 (user fit), bandit (roadmap), Gemini (content)</a:t>
            </a:r>
          </a:p>
          <a:p>
            <a:r>
              <a:t>• Reproducible training pipeline under data_pipeline/ and models/</a:t>
            </a:r>
          </a:p>
          <a:p>
            <a:r>
              <a:t>• OpenAPI-documented REST API; modular services</a:t>
            </a:r>
          </a:p>
          <a:p/>
          <a:p>
            <a:r>
              <a:t>Limitations:</a:t>
            </a:r>
          </a:p>
          <a:p>
            <a:r>
              <a:t>• Gemini quota/billing required for best roadmap quality</a:t>
            </a:r>
          </a:p>
          <a:p>
            <a:r>
              <a:t>• Jobs stored locally (no LinkedIn/Naukri API yet)</a:t>
            </a:r>
          </a:p>
          <a:p>
            <a:r>
              <a:t>• Bandit does not re-rank jobs — only adapts study plans</a:t>
            </a:r>
          </a:p>
        </p:txBody>
      </p:sp>
      <p:sp>
        <p:nvSpPr>
          <p:cNvPr id="306" name="Google Shape;306;g3e67b653116_0_22"/>
          <p:cNvSpPr txBox="1">
            <a:spLocks noGrp="1"/>
          </p:cNvSpPr>
          <p:nvPr>
            <p:ph type="title"/>
          </p:nvPr>
        </p:nvSpPr>
        <p:spPr>
          <a:xfrm>
            <a:off x="571499" y="176981"/>
            <a:ext cx="11209499" cy="635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3200"/>
              <a:buFont typeface="Georgia"/>
              <a:buNone/>
            </a:pPr>
            <a:r>
              <a:rPr lang="en-US" dirty="0"/>
              <a:t>Evaluation &amp; Analysis  </a:t>
            </a:r>
            <a:endParaRPr dirty="0"/>
          </a:p>
        </p:txBody>
      </p:sp>
      <p:sp>
        <p:nvSpPr>
          <p:cNvPr id="307" name="Google Shape;307;g3e67b653116_0_22"/>
          <p:cNvSpPr txBox="1">
            <a:spLocks noGrp="1"/>
          </p:cNvSpPr>
          <p:nvPr>
            <p:ph type="sldNum" idx="12"/>
          </p:nvPr>
        </p:nvSpPr>
        <p:spPr>
          <a:xfrm>
            <a:off x="0" y="6525814"/>
            <a:ext cx="571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"/>
          <p:cNvSpPr txBox="1">
            <a:spLocks noGrp="1"/>
          </p:cNvSpPr>
          <p:nvPr>
            <p:ph type="body" idx="1"/>
          </p:nvPr>
        </p:nvSpPr>
        <p:spPr>
          <a:xfrm>
            <a:off x="571499" y="1061056"/>
            <a:ext cx="11209376" cy="490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r>
              <a:t>Challenges:</a:t>
            </a:r>
          </a:p>
          <a:p>
            <a:r>
              <a:t>• Noisy resumes and inconsistent JD formatting across 799 training jobs</a:t>
            </a:r>
          </a:p>
          <a:p>
            <a:r>
              <a:t>• Gemini rate limits (HTTP 429) on free tier during demos</a:t>
            </a:r>
          </a:p>
          <a:p>
            <a:r>
              <a:t>• Orchestrating KNN, Doc2Vec, XGBoost, similarity rules, bandit, and RAG</a:t>
            </a:r>
          </a:p>
          <a:p>
            <a:r>
              <a:t>• Keeping valid roadmap JSON after adaptive edits</a:t>
            </a:r>
          </a:p>
          <a:p>
            <a:r>
              <a:t>• Schema drift when adding jd_analyzed_skills columns to existing DBs</a:t>
            </a:r>
          </a:p>
          <a:p/>
          <a:p>
            <a:r>
              <a:t>Solutions:</a:t>
            </a:r>
          </a:p>
          <a:p>
            <a:r>
              <a:t>• Weak-label + feature pipeline for Model 1; persist analysis per job fingerprint</a:t>
            </a:r>
          </a:p>
          <a:p>
            <a:r>
              <a:t>• Gemini model fallback list + local resume skill extraction</a:t>
            </a:r>
          </a:p>
          <a:p>
            <a:r>
              <a:t>• model2_service as single similarity API; Phase 2 three-step adapt flow</a:t>
            </a:r>
          </a:p>
          <a:p>
            <a:r>
              <a:t>• Action masking (e.g. no skip when jd_importance ≥ 0.7)</a:t>
            </a:r>
          </a:p>
          <a:p>
            <a:r>
              <a:t>• ensure_job_analysis_columns() on API startup; Alembic migrations</a:t>
            </a:r>
          </a:p>
        </p:txBody>
      </p:sp>
      <p:sp>
        <p:nvSpPr>
          <p:cNvPr id="313" name="Google Shape;313;p10"/>
          <p:cNvSpPr txBox="1">
            <a:spLocks noGrp="1"/>
          </p:cNvSpPr>
          <p:nvPr>
            <p:ph type="title"/>
          </p:nvPr>
        </p:nvSpPr>
        <p:spPr>
          <a:xfrm>
            <a:off x="571499" y="348662"/>
            <a:ext cx="11209376" cy="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3200"/>
              <a:buFont typeface="Georgia"/>
              <a:buNone/>
            </a:pPr>
            <a:r>
              <a:rPr lang="en-US" dirty="0"/>
              <a:t>Challenges &amp; Solutions  </a:t>
            </a:r>
            <a:endParaRPr dirty="0"/>
          </a:p>
        </p:txBody>
      </p:sp>
      <p:sp>
        <p:nvSpPr>
          <p:cNvPr id="314" name="Google Shape;314;p10"/>
          <p:cNvSpPr txBox="1">
            <a:spLocks noGrp="1"/>
          </p:cNvSpPr>
          <p:nvPr>
            <p:ph type="sldNum" idx="12"/>
          </p:nvPr>
        </p:nvSpPr>
        <p:spPr>
          <a:xfrm>
            <a:off x="0" y="6525814"/>
            <a:ext cx="5714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1"/>
          <p:cNvSpPr txBox="1">
            <a:spLocks noGrp="1"/>
          </p:cNvSpPr>
          <p:nvPr>
            <p:ph type="body" idx="1"/>
          </p:nvPr>
        </p:nvSpPr>
        <p:spPr>
          <a:xfrm>
            <a:off x="571498" y="1137256"/>
            <a:ext cx="11478988" cy="6025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PathFinder AI integrates career discovery, explainable job matching, and adaptive learning:</a:t>
            </a:r>
          </a:p>
          <a:p/>
          <a:p>
            <a:r>
              <a:t>• Profile/resume → KNN careers → Model 2 ranked jobs (+ Doc2Vec fallback)</a:t>
            </a:r>
          </a:p>
          <a:p>
            <a:r>
              <a:t>• Model 1 structures every JD; Model 2 scores user alignment transparently</a:t>
            </a:r>
          </a:p>
          <a:p>
            <a:r>
              <a:t>• Gemini produces roadmaps; contextual bandit personalizes them from real feedback</a:t>
            </a:r>
          </a:p>
          <a:p>
            <a:r>
              <a:t>• Recruiters and seekers share one platform and data model</a:t>
            </a:r>
          </a:p>
          <a:p/>
          <a:p>
            <a:r>
              <a:t>Deliverable: working academic prototype with measurable Model 1 metrics and end-to-end demo path suitable for final review and viva.</a:t>
            </a:r>
          </a:p>
        </p:txBody>
      </p:sp>
      <p:sp>
        <p:nvSpPr>
          <p:cNvPr id="320" name="Google Shape;320;p11"/>
          <p:cNvSpPr txBox="1">
            <a:spLocks noGrp="1"/>
          </p:cNvSpPr>
          <p:nvPr>
            <p:ph type="title"/>
          </p:nvPr>
        </p:nvSpPr>
        <p:spPr>
          <a:xfrm>
            <a:off x="571499" y="348662"/>
            <a:ext cx="11209376" cy="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3200"/>
              <a:buFont typeface="Georgia"/>
              <a:buNone/>
            </a:pPr>
            <a:r>
              <a:rPr lang="en-US" dirty="0"/>
              <a:t>Conclusion  </a:t>
            </a:r>
            <a:endParaRPr dirty="0"/>
          </a:p>
        </p:txBody>
      </p:sp>
      <p:sp>
        <p:nvSpPr>
          <p:cNvPr id="321" name="Google Shape;321;p11"/>
          <p:cNvSpPr txBox="1">
            <a:spLocks noGrp="1"/>
          </p:cNvSpPr>
          <p:nvPr>
            <p:ph type="sldNum" idx="12"/>
          </p:nvPr>
        </p:nvSpPr>
        <p:spPr>
          <a:xfrm>
            <a:off x="0" y="6525814"/>
            <a:ext cx="5714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"/>
          <p:cNvSpPr txBox="1">
            <a:spLocks noGrp="1"/>
          </p:cNvSpPr>
          <p:nvPr>
            <p:ph type="body" idx="1"/>
          </p:nvPr>
        </p:nvSpPr>
        <p:spPr>
          <a:xfrm>
            <a:off x="571499" y="1137256"/>
            <a:ext cx="11209376" cy="490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Future scope:</a:t>
            </a:r>
          </a:p>
          <a:p>
            <a:r>
              <a:t>• Cloud deploy (Docker); PostgreSQL for production</a:t>
            </a:r>
          </a:p>
          <a:p>
            <a:r>
              <a:t>• External job feed APIs (LinkedIn, Indeed adapters)</a:t>
            </a:r>
          </a:p>
          <a:p>
            <a:r>
              <a:t>• Stronger RAG: automated indexing, citation in chat answers</a:t>
            </a:r>
          </a:p>
          <a:p>
            <a:r>
              <a:t>• Mock interviews and automated resume scoring</a:t>
            </a:r>
          </a:p>
          <a:p>
            <a:r>
              <a:t>• Larger labeled datasets; A/B tests on bandit reward shaping</a:t>
            </a:r>
          </a:p>
          <a:p>
            <a:r>
              <a:t>• Multilingual JD/resume support</a:t>
            </a:r>
          </a:p>
          <a:p>
            <a:r>
              <a:t>• Deep RL only if a simulated long-horizon environment is added — bandit remains the right v1 for local roadmap edits</a:t>
            </a:r>
          </a:p>
        </p:txBody>
      </p:sp>
      <p:sp>
        <p:nvSpPr>
          <p:cNvPr id="327" name="Google Shape;327;p12"/>
          <p:cNvSpPr txBox="1">
            <a:spLocks noGrp="1"/>
          </p:cNvSpPr>
          <p:nvPr>
            <p:ph type="title"/>
          </p:nvPr>
        </p:nvSpPr>
        <p:spPr>
          <a:xfrm>
            <a:off x="571499" y="348662"/>
            <a:ext cx="11209376" cy="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3200"/>
              <a:buFont typeface="Georgia"/>
              <a:buNone/>
            </a:pPr>
            <a:r>
              <a:rPr lang="en-US" dirty="0"/>
              <a:t>Future Scope </a:t>
            </a:r>
            <a:endParaRPr dirty="0"/>
          </a:p>
        </p:txBody>
      </p:sp>
      <p:sp>
        <p:nvSpPr>
          <p:cNvPr id="328" name="Google Shape;328;p12"/>
          <p:cNvSpPr txBox="1">
            <a:spLocks noGrp="1"/>
          </p:cNvSpPr>
          <p:nvPr>
            <p:ph type="sldNum" idx="12"/>
          </p:nvPr>
        </p:nvSpPr>
        <p:spPr>
          <a:xfrm>
            <a:off x="0" y="6525814"/>
            <a:ext cx="5714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3"/>
          <p:cNvSpPr txBox="1">
            <a:spLocks noGrp="1"/>
          </p:cNvSpPr>
          <p:nvPr>
            <p:ph type="body" idx="1"/>
          </p:nvPr>
        </p:nvSpPr>
        <p:spPr>
          <a:xfrm>
            <a:off x="571499" y="1137256"/>
            <a:ext cx="11209376" cy="490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</a:pPr>
            <a:r>
              <a:rPr lang="en-US" sz="2600" dirty="0"/>
              <a:t>Conference: 2nd IEEE International Conference on Information, Implementation and Innovation in Technology </a:t>
            </a:r>
            <a:r>
              <a:rPr lang="en-US" sz="2600" i="1" dirty="0"/>
              <a:t>(I2ITCON 2026)</a:t>
            </a:r>
            <a:endParaRPr sz="26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600" dirty="0"/>
              <a:t>Publisher : IEEE</a:t>
            </a:r>
            <a:endParaRPr sz="26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600" dirty="0"/>
              <a:t>Date of conference : 10</a:t>
            </a:r>
            <a:r>
              <a:rPr lang="en-US" sz="2600" baseline="30000" dirty="0"/>
              <a:t>th</a:t>
            </a:r>
            <a:r>
              <a:rPr lang="en-US" sz="2600" dirty="0"/>
              <a:t> April 2026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600" dirty="0"/>
              <a:t>Accept Status : Not yet confirmed</a:t>
            </a:r>
            <a:endParaRPr sz="26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dirty="0"/>
          </a:p>
        </p:txBody>
      </p:sp>
      <p:sp>
        <p:nvSpPr>
          <p:cNvPr id="334" name="Google Shape;334;p13"/>
          <p:cNvSpPr txBox="1">
            <a:spLocks noGrp="1"/>
          </p:cNvSpPr>
          <p:nvPr>
            <p:ph type="title"/>
          </p:nvPr>
        </p:nvSpPr>
        <p:spPr>
          <a:xfrm>
            <a:off x="571499" y="348662"/>
            <a:ext cx="11209376" cy="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3200"/>
              <a:buFont typeface="Georgia"/>
              <a:buNone/>
            </a:pPr>
            <a:r>
              <a:rPr lang="en-US" dirty="0"/>
              <a:t>Publication status </a:t>
            </a:r>
            <a:endParaRPr dirty="0"/>
          </a:p>
        </p:txBody>
      </p:sp>
      <p:sp>
        <p:nvSpPr>
          <p:cNvPr id="335" name="Google Shape;335;p13"/>
          <p:cNvSpPr txBox="1">
            <a:spLocks noGrp="1"/>
          </p:cNvSpPr>
          <p:nvPr>
            <p:ph type="sldNum" idx="12"/>
          </p:nvPr>
        </p:nvSpPr>
        <p:spPr>
          <a:xfrm>
            <a:off x="0" y="6525814"/>
            <a:ext cx="5714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7A141147-3E24-5AD5-F18C-9E4C17BD1A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A67B9D-C2FA-CF6B-3928-260F24407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770" y="3632706"/>
            <a:ext cx="5083629" cy="2201847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7E6F6B-19E5-FA8B-B2C5-174715DCE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885" y="3629796"/>
            <a:ext cx="4345504" cy="2003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lignmentVTI">
  <a:themeElements>
    <a:clrScheme name="AnalogousFromLightSeed_2SEEDS">
      <a:dk1>
        <a:srgbClr val="000000"/>
      </a:dk1>
      <a:lt1>
        <a:srgbClr val="FFFFFF"/>
      </a:lt1>
      <a:dk2>
        <a:srgbClr val="243741"/>
      </a:dk2>
      <a:lt2>
        <a:srgbClr val="E2E5E8"/>
      </a:lt2>
      <a:accent1>
        <a:srgbClr val="BB9D7E"/>
      </a:accent1>
      <a:accent2>
        <a:srgbClr val="C59791"/>
      </a:accent2>
      <a:accent3>
        <a:srgbClr val="A5A27B"/>
      </a:accent3>
      <a:accent4>
        <a:srgbClr val="74ADA7"/>
      </a:accent4>
      <a:accent5>
        <a:srgbClr val="7EA7BB"/>
      </a:accent5>
      <a:accent6>
        <a:srgbClr val="7E8DBB"/>
      </a:accent6>
      <a:hlink>
        <a:srgbClr val="6184A9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1562</Words>
  <Application>Microsoft Office PowerPoint</Application>
  <PresentationFormat>Widescreen</PresentationFormat>
  <Paragraphs>201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Times New Roman</vt:lpstr>
      <vt:lpstr>Play</vt:lpstr>
      <vt:lpstr>Calibri</vt:lpstr>
      <vt:lpstr>Georgia</vt:lpstr>
      <vt:lpstr>Arial</vt:lpstr>
      <vt:lpstr>Avenir</vt:lpstr>
      <vt:lpstr>Batang</vt:lpstr>
      <vt:lpstr>AlignmentVTI</vt:lpstr>
      <vt:lpstr>office theme</vt:lpstr>
      <vt:lpstr>PowerPoint Presentation</vt:lpstr>
      <vt:lpstr>Outline</vt:lpstr>
      <vt:lpstr>Introduction </vt:lpstr>
      <vt:lpstr>Problem &amp; Objective </vt:lpstr>
      <vt:lpstr>Proposed Solution Overview </vt:lpstr>
      <vt:lpstr>Proposed Solution Overview </vt:lpstr>
      <vt:lpstr>System Architecture / Design </vt:lpstr>
      <vt:lpstr>System Architecture / Design </vt:lpstr>
      <vt:lpstr>System Workflow</vt:lpstr>
      <vt:lpstr>Implementation Details </vt:lpstr>
      <vt:lpstr>Implementation Details </vt:lpstr>
      <vt:lpstr>Results &amp; Performance </vt:lpstr>
      <vt:lpstr>Results &amp; Performance </vt:lpstr>
      <vt:lpstr>Evaluation &amp; Analysis  </vt:lpstr>
      <vt:lpstr>Evaluation &amp; Analysis  </vt:lpstr>
      <vt:lpstr>Challenges &amp; Solutions  </vt:lpstr>
      <vt:lpstr>Conclusion  </vt:lpstr>
      <vt:lpstr>Future Scope </vt:lpstr>
      <vt:lpstr>Publication status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Sunitha EV</dc:creator>
  <cp:lastModifiedBy>Aditya Kaashyap Emani</cp:lastModifiedBy>
  <cp:revision>5</cp:revision>
  <dcterms:created xsi:type="dcterms:W3CDTF">2025-02-06T04:27:38Z</dcterms:created>
  <dcterms:modified xsi:type="dcterms:W3CDTF">2026-05-17T20:03:41Z</dcterms:modified>
</cp:coreProperties>
</file>